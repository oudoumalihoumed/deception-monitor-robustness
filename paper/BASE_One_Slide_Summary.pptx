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1A1F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113385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Can We Trust Deception Monitors for AI Agents?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58368"/>
            <a:ext cx="113385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0">
                <a:solidFill>
                  <a:srgbClr val="C8D4E8"/>
                </a:solidFill>
                <a:latin typeface="Calibri"/>
              </a:defRPr>
            </a:pPr>
            <a:r>
              <a:t>A Robustness-Gap Protocol and the Limits of Adaptive Evasion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932688"/>
            <a:ext cx="11338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A8B8D0"/>
                </a:solidFill>
                <a:latin typeface="Calibri"/>
              </a:defRPr>
            </a:pPr>
            <a:r>
              <a:t>Oudoum A. Houmed  ·  Université Paris-Saclay  ·  Mentor: Krystal Jackson  ·  BASE Recursive Redlines Fellowship  ·  July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371600"/>
            <a:ext cx="2788920" cy="507492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310128" y="1371600"/>
            <a:ext cx="2788920" cy="507492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00216" y="1371600"/>
            <a:ext cx="2788920" cy="5074920"/>
          </a:xfrm>
          <a:prstGeom prst="rect">
            <a:avLst/>
          </a:prstGeom>
          <a:solidFill>
            <a:srgbClr val="F4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9768" y="1481328"/>
            <a:ext cx="2569464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2D6ADF"/>
                </a:solidFill>
                <a:latin typeface="Calibri"/>
              </a:defRPr>
            </a:pPr>
            <a:r>
              <a:t>The question</a:t>
            </a:r>
          </a:p>
          <a:p>
            <a:pPr>
              <a:spcAft>
                <a:spcPts val="300"/>
              </a:spcAft>
              <a:defRPr sz="1050">
                <a:solidFill>
                  <a:srgbClr val="212121"/>
                </a:solidFill>
                <a:latin typeface="Calibri"/>
              </a:defRPr>
            </a:pPr>
            <a:r>
              <a:t>Deception monitors are proposed as controls against loss-of-control risk.</a:t>
            </a:r>
          </a:p>
          <a:p>
            <a:pPr>
              <a:spcAft>
                <a:spcPts val="300"/>
              </a:spcAft>
              <a:defRPr sz="1050">
                <a:solidFill>
                  <a:srgbClr val="212121"/>
                </a:solidFill>
                <a:latin typeface="Calibri"/>
              </a:defRPr>
            </a:pPr>
            <a:r>
              <a:t>Reported accuracies are usually measured against agents not trying to evade.</a:t>
            </a:r>
          </a:p>
          <a:p>
            <a:pPr>
              <a:spcAft>
                <a:spcPts val="300"/>
              </a:spcAft>
              <a:defRPr sz="1050">
                <a:solidFill>
                  <a:srgbClr val="212121"/>
                </a:solidFill>
                <a:latin typeface="Calibri"/>
              </a:defRPr>
            </a:pPr>
            <a:r>
              <a:t>I ask: how much detection survives as adversary budget rises?</a:t>
            </a:r>
          </a:p>
          <a:p>
            <a:pPr>
              <a:spcAft>
                <a:spcPts val="300"/>
              </a:spcAft>
              <a:defRPr sz="1050">
                <a:solidFill>
                  <a:srgbClr val="212121"/>
                </a:solidFill>
                <a:latin typeface="Calibri"/>
              </a:defRPr>
            </a:pPr>
            <a:r>
              <a:t>And when does evasion stop counting because the agent itself broke?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" y="3611880"/>
            <a:ext cx="2569464" cy="2651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2D6ADF"/>
                </a:solidFill>
                <a:latin typeface="Calibri"/>
              </a:defRPr>
            </a:pPr>
            <a:r>
              <a:t>Protocol</a:t>
            </a:r>
          </a:p>
          <a:p>
            <a:pPr>
              <a:spcAft>
                <a:spcPts val="300"/>
              </a:spcAft>
              <a:defRPr sz="1050">
                <a:solidFill>
                  <a:srgbClr val="212121"/>
                </a:solidFill>
                <a:latin typeface="Calibri"/>
              </a:defRPr>
            </a:pPr>
            <a:r>
              <a:t>Robustness gap Δdet(b) = AUROC drop vs baseline.</a:t>
            </a:r>
          </a:p>
          <a:p>
            <a:pPr>
              <a:spcAft>
                <a:spcPts val="300"/>
              </a:spcAft>
              <a:defRPr sz="1050">
                <a:solidFill>
                  <a:srgbClr val="212121"/>
                </a:solidFill>
                <a:latin typeface="Calibri"/>
              </a:defRPr>
            </a:pPr>
            <a:r>
              <a:t>Ladder b₀→b₄: prompt → SFT → probe-aware SFT → RL.</a:t>
            </a:r>
          </a:p>
          <a:p>
            <a:pPr>
              <a:spcAft>
                <a:spcPts val="300"/>
              </a:spcAft>
              <a:defRPr sz="1050">
                <a:solidFill>
                  <a:srgbClr val="212121"/>
                </a:solidFill>
                <a:latin typeface="Calibri"/>
              </a:defRPr>
            </a:pPr>
            <a:r>
              <a:t>TOST retention gate (≥80%): withhold Δdet if agent stops deceiving.</a:t>
            </a:r>
          </a:p>
          <a:p>
            <a:pPr>
              <a:spcAft>
                <a:spcPts val="300"/>
              </a:spcAft>
              <a:defRPr sz="1050">
                <a:solidFill>
                  <a:srgbClr val="212121"/>
                </a:solidFill>
                <a:latin typeface="Calibri"/>
              </a:defRPr>
            </a:pPr>
            <a:r>
              <a:t>Llama-3.3-70B · published Apollo probe (L22) · Modal H200 · N=60.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19856" y="1481328"/>
            <a:ext cx="2569464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2D6ADF"/>
                </a:solidFill>
                <a:latin typeface="Calibri"/>
              </a:defRPr>
            </a:pPr>
            <a:r>
              <a:t>What I found</a:t>
            </a:r>
          </a:p>
          <a:p>
            <a:pPr>
              <a:spcAft>
                <a:spcPts val="300"/>
              </a:spcAft>
              <a:defRPr sz="1050">
                <a:solidFill>
                  <a:srgbClr val="212121"/>
                </a:solidFill>
                <a:latin typeface="Calibri"/>
              </a:defRPr>
            </a:pPr>
            <a:r>
              <a:t>Transfer gap (before any attack): Apollo 0.999 → agentic 0.83.</a:t>
            </a:r>
          </a:p>
          <a:p>
            <a:pPr>
              <a:spcAft>
                <a:spcPts val="300"/>
              </a:spcAft>
              <a:defRPr sz="1050">
                <a:solidFill>
                  <a:srgbClr val="212121"/>
                </a:solidFill>
                <a:latin typeface="Calibri"/>
              </a:defRPr>
            </a:pPr>
            <a:r>
              <a:t>Where deception is retained (b₂, b₃): probe AUROC holds (0.89, 0.85 at λ=8).</a:t>
            </a:r>
          </a:p>
          <a:p>
            <a:pPr>
              <a:spcAft>
                <a:spcPts val="300"/>
              </a:spcAft>
              <a:defRPr sz="1050">
                <a:solidFill>
                  <a:srgbClr val="212121"/>
                </a:solidFill>
                <a:latin typeface="Calibri"/>
              </a:defRPr>
            </a:pPr>
            <a:r>
              <a:t>Probe-aware SFT does not open a further gap within my budget.</a:t>
            </a:r>
          </a:p>
          <a:p>
            <a:pPr>
              <a:spcAft>
                <a:spcPts val="300"/>
              </a:spcAft>
              <a:defRPr sz="1050">
                <a:solidFill>
                  <a:srgbClr val="212121"/>
                </a:solidFill>
                <a:latin typeface="Calibri"/>
              </a:defRPr>
            </a:pPr>
            <a:r>
              <a:t>b₄ lowers AUROC (0.75) but fails retention: 0.14 (λ=8), 0.31 (λ=0.5).</a:t>
            </a:r>
          </a:p>
          <a:p>
            <a:pPr>
              <a:spcAft>
                <a:spcPts val="300"/>
              </a:spcAft>
              <a:defRPr sz="1050">
                <a:solidFill>
                  <a:srgbClr val="212121"/>
                </a:solidFill>
                <a:latin typeface="Calibri"/>
              </a:defRPr>
            </a:pPr>
            <a:r>
              <a:t>Softplus often attack_too_weak — reported honestly.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19856" y="4343400"/>
            <a:ext cx="256946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2D6ADF"/>
                </a:solidFill>
                <a:latin typeface="Calibri"/>
              </a:defRPr>
            </a:pPr>
            <a:r>
              <a:t>Primary numbers (λ=8, |C|=29)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3383280" y="4617720"/>
          <a:ext cx="2642616" cy="868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40436"/>
                <a:gridCol w="440436"/>
                <a:gridCol w="440436"/>
                <a:gridCol w="440436"/>
                <a:gridCol w="440436"/>
                <a:gridCol w="440436"/>
              </a:tblGrid>
              <a:tr h="289560">
                <a:tc>
                  <a:txBody>
                    <a:bodyPr/>
                    <a:lstStyle/>
                    <a:p>
                      <a:pPr>
                        <a:defRPr sz="900" b="1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b₀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b₁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b₂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b₃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b₄</a:t>
                      </a:r>
                    </a:p>
                  </a:txBody>
                  <a:tcPr/>
                </a:tc>
              </a:tr>
              <a:tr h="28956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Probe AUROC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0.75</a:t>
                      </a:r>
                    </a:p>
                  </a:txBody>
                  <a:tcPr/>
                </a:tc>
              </a:tr>
              <a:tr h="289560"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Retention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1.00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/>
                      </a:pPr>
                      <a:r>
                        <a:t>0.86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 b="1"/>
                      </a:pPr>
                      <a:r>
                        <a:t>0.14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14" name="Picture 13" descr="results_ten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1656" y="1481328"/>
            <a:ext cx="2606040" cy="214884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391656" y="3675888"/>
            <a:ext cx="26060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>
                <a:solidFill>
                  <a:srgbClr val="5C5C5C"/>
                </a:solidFill>
                <a:latin typeface="Calibri"/>
              </a:defRPr>
            </a:pPr>
            <a:r>
              <a:t>Primary result (λ=8): detection falls only where deception collapses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9944" y="4023360"/>
            <a:ext cx="2569464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2D6ADF"/>
                </a:solidFill>
                <a:latin typeface="Calibri"/>
              </a:defRPr>
            </a:pPr>
            <a:r>
              <a:t>Takeaway</a:t>
            </a:r>
          </a:p>
          <a:p>
            <a:pPr>
              <a:spcAft>
                <a:spcPts val="300"/>
              </a:spcAft>
              <a:defRPr sz="1050">
                <a:solidFill>
                  <a:srgbClr val="212121"/>
                </a:solidFill>
                <a:latin typeface="Calibri"/>
              </a:defRPr>
            </a:pPr>
            <a:r>
              <a:t>Not probe collapse — the limit of adaptive evasion under my budget.</a:t>
            </a:r>
          </a:p>
          <a:p>
            <a:pPr>
              <a:spcAft>
                <a:spcPts val="300"/>
              </a:spcAft>
              <a:defRPr sz="1050">
                <a:solidFill>
                  <a:srgbClr val="212121"/>
                </a:solidFill>
                <a:latin typeface="Calibri"/>
              </a:defRPr>
            </a:pPr>
            <a:r>
              <a:t>Do not import near-ceiling probe numbers from the training domain.</a:t>
            </a:r>
          </a:p>
          <a:p>
            <a:pPr>
              <a:spcAft>
                <a:spcPts val="300"/>
              </a:spcAft>
              <a:defRPr sz="1050">
                <a:solidFill>
                  <a:srgbClr val="212121"/>
                </a:solidFill>
                <a:latin typeface="Calibri"/>
              </a:defRPr>
            </a:pPr>
            <a:r>
              <a:t>Deliverable: protocol + Modal implementation + workshop draft (main.pdf).</a:t>
            </a:r>
          </a:p>
          <a:p>
            <a:pPr>
              <a:spcAft>
                <a:spcPts val="300"/>
              </a:spcAft>
              <a:defRPr sz="1050">
                <a:solidFill>
                  <a:srgbClr val="212121"/>
                </a:solidFill>
                <a:latin typeface="Calibri"/>
              </a:defRPr>
            </a:pPr>
            <a:r>
              <a:t>Acknowledgments: Krystal Jackson, BASE, GPU support via Modal.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" y="6510528"/>
            <a:ext cx="115214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>
                <a:solidFill>
                  <a:srgbClr val="5C5C5C"/>
                </a:solidFill>
                <a:latin typeface="Calibri"/>
              </a:defRPr>
            </a:pPr>
            <a:r>
              <a:t>oudoum.ali-houmed@universite-paris-saclay.fr  ·  deception-monitor-robustness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